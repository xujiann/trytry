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二级指标数</c:v>
                </c:pt>
              </c:strCache>
            </c:strRef>
          </c:tx>
          <c:spPr>
            <a:solidFill>
              <a:srgbClr val="188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紧密型</c:v>
                  </c:pt>
                  <c:pt idx="1">
                    <c:v>同质化</c:v>
                  </c:pt>
                  <c:pt idx="2">
                    <c:v>促分工</c:v>
                  </c:pt>
                  <c:pt idx="3">
                    <c:v>提效能</c:v>
                  </c:pt>
                  <c:pt idx="4">
                    <c:v>保健康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302C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b"/>
        <c:majorGridlines>
          <c:spPr>
            <a:ln w="12700" cap="flat">
              <a:solidFill>
                <a:srgbClr val="E1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8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开场：本平台依据国卫办规划函〔2025〕63号《紧密型县域医共体信息化功能指引》建设，五大类36项功能已全部落地；封面四个数字来自代码实际状态，可现场复核。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六个部分：前两部分讲市场与产品，中间两部分讲业务，后两部分讲工程与商业。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这一页回答投资方最关心的问题：需求是政策强制的，不是可选项；且有明确的时间表和验收标尺。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五个痛点对应后面的解决方案：统一编码与主索引解决第1条，医防融合模块解决第2条，共享中心与转诊解决第3条，驾驶舱与绩效解决第4条，三端载体解决第5条。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自上而下讲：用户看到的三端 → 业务功能 → 平台能力 → 数据 → 对接 → 安全。强调数据中心层是一套统一模型，不是把各家系统拼起来。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这一页是招标响应的底气：不是「支持」而是「已实现且有测试」。可现场打开对照表逐条走查。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投资方视角：这是一个真实完成度很高的产品，不是 demo。测试代码量与实现代码量接近 1:1 是关键佐证。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这是县域信息化的第一优先级，也是121号文年底前的硬指标。七个中心平台全部具备。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药事是县域最容易见效也最容易量化的模块：审方量、缺药履约率、调拨节约都能直接进考核。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医防融合是「以治病为中心」转向「以健康为中心」的抓手，也是省级考核最看重的一块。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图表数据来源：《监测指标体系（2024版）》5 个一级指标下共 14 项二级指标。总额付费那一条是与竞品拉开差距的细节——结余分配依据冻结快照，事后改分数不影响已分配结果。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商业意义：慢专病既是平台的一个模块，也是一个可独立投标的产品。76 处外键保证它与平台共用底座，AST 测试保证它拆得下来。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这一页讲的是产品的专业度：一个没做过这块业务的团队，会把筛查数当成纳管数报上去。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免构建 SPA 是刻意的取舍：县域实施环境复杂，少一个前端构建链就少一类现场故障。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架构问答准备：为什么是单体？县域体量下单体的运维成本最低，且我们保留了接缝（子系统单向依赖 + 事件总线），需要拆时能拆。多实例部署配 Redis 即可共享登出黑名单、限流与任务锁。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对投资方：这是「能不能长期演进」的证据。对客户：这是「换人也接得住」的证据——文档与守卫都在仓库里，不在某个人脑子里。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坦诚是加分项：明确区分「平台已做完」与「部署期要做」，客户和投资方都会更信任其余的陈述。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实施是县域项目最容易翻车的环节。强调 dry-run 导入与终态自检脚本——这些细节说明团队真的做过现场。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三个视角对应三类决策人：群众满意度进考核、医务人员的使用率决定系统活不活、管理层是签字的人。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投资方问答准备：护城河是「政策对照 + 完整度 + 工程规范」三件事的叠加，任何一项单独都不难，凑齐了很难在短期内被复制。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收尾：邀请对方提出任意一条招标要求，现场在对照表里找到落点并打开对应接口——这是最有说服力的结束方式。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371600"/>
            <a:ext cx="5120640" cy="5120640"/>
          </a:xfrm>
          <a:prstGeom prst="ellipse">
            <a:avLst/>
          </a:prstGeom>
          <a:solidFill>
            <a:srgbClr val="1886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74320"/>
            <a:ext cx="2926080" cy="2926080"/>
          </a:xfrm>
          <a:prstGeom prst="ellipse">
            <a:avLst/>
          </a:prstGeom>
          <a:solidFill>
            <a:srgbClr val="5FB3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紧密型县域医共体 · 信息化整体解决方案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县域医共体信息化平台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medplat</a:t>
            </a:r>
            <a:pPr indent="0" marL="0">
              <a:buNone/>
            </a:pPr>
            <a:r>
              <a:rPr lang="en-US" sz="16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+  全域慢专病全流程管理子系统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一个平台贯通县—乡—村三级，横向联动医疗 · 医药 · 医保 · 公卫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31596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pPr indent="0" marL="0">
              <a:buNone/>
            </a:pPr>
            <a:r>
              <a:rPr lang="en-US" sz="1300" b="1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《功能指引》功能全覆盖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65576" y="431596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946</a:t>
            </a:r>
            <a:pPr indent="0" marL="0">
              <a:buNone/>
            </a:pPr>
            <a:r>
              <a:rPr lang="en-US" sz="1300" b="1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65576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后端业务接口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431596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pPr indent="0" marL="0">
              <a:buNone/>
            </a:pPr>
            <a:r>
              <a:rPr lang="en-US" sz="1300" b="1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91072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统一数据模型表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16568" y="431596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2,360</a:t>
            </a:r>
            <a:pPr indent="0" marL="0">
              <a:buNone/>
            </a:pPr>
            <a:r>
              <a:rPr lang="en-US" sz="1300" b="1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16568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自动化测试守护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客户与投资方介绍材料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75104"/>
            <a:ext cx="53003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57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73936" y="2194560"/>
            <a:ext cx="392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政策机遇与行业痛点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73936" y="2596896"/>
            <a:ext cx="392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确定性需求从哪来，钱为什么会花在这里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1296" y="1975104"/>
            <a:ext cx="53003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25616" y="2157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85152" y="2194560"/>
            <a:ext cx="392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平台总览与功能全景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85152" y="2596896"/>
            <a:ext cx="392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五大类 36 项功能、三端载体、平台规模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3003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73936" y="3602736"/>
            <a:ext cx="392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四大核心业务场景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73936" y="4005072"/>
            <a:ext cx="392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共享中心 · 药事协同 · 医防融合 · 运营监管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1296" y="3383280"/>
            <a:ext cx="53003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25616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85152" y="3602736"/>
            <a:ext cx="392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拳头产品：全域慢专病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85152" y="4005072"/>
            <a:ext cx="392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十一端一体，163 条需求逐条对照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91456"/>
            <a:ext cx="53003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974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73936" y="5010912"/>
            <a:ext cx="392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技术架构与工程质量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73936" y="5413248"/>
            <a:ext cx="392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架构、治理体系、安全合规与信创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51296" y="4791456"/>
            <a:ext cx="53003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25616" y="4974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85152" y="5010912"/>
            <a:ext cx="392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交付、价值与投资亮点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85152" y="5413248"/>
            <a:ext cx="392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怎么落地，客户得到什么，我们的护城河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市场机遇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政策驱动的确定性需求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国家已形成「指导意见—重点工作—参考手册—功能指引—监测指标」完整体系，信息化是医共体统一管理与业务协同的基础支撑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482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平台建设的四份直接依据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50592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642616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08176" y="2560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《信息化功能指引》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8176" y="285292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国卫办规划函〔2025〕63号 · 五大类 36 项功能，功能设计直接依据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46704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" y="3538728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08176" y="34564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年重点工作通知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08176" y="374904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国卫办基层函〔2025〕121号 · 明确年度约束性目标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42816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4434840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08176" y="4352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《建设参考手册（第一版）》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08176" y="464515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国卫基层运行便函〔2025〕4号 · 组建、运行与医防融合框架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9536" y="5330952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08176" y="52486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《监测指标体系（2024版）》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08176" y="5541264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个一级指标、14 个二级监测指标，成效评价的标尺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45936" y="2048256"/>
            <a:ext cx="5205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年底前的约束性目标（121号文）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45936" y="2450592"/>
            <a:ext cx="2474824" cy="1170432"/>
          </a:xfrm>
          <a:prstGeom prst="roundRect">
            <a:avLst>
              <a:gd name="adj" fmla="val 7813"/>
            </a:avLst>
          </a:prstGeom>
          <a:solidFill>
            <a:srgbClr val="0E3B36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65392" y="2633472"/>
            <a:ext cx="2072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以上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565392" y="3108960"/>
            <a:ext cx="207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县建成紧密型县域医共体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76792" y="2450592"/>
            <a:ext cx="2474824" cy="1170432"/>
          </a:xfrm>
          <a:prstGeom prst="roundRect">
            <a:avLst>
              <a:gd name="adj" fmla="val 7813"/>
            </a:avLst>
          </a:prstGeom>
          <a:solidFill>
            <a:srgbClr val="0E3B36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96248" y="2633472"/>
            <a:ext cx="2072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以上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296248" y="3108960"/>
            <a:ext cx="207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乡镇卫生院被县域影像中心覆盖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45936" y="3877056"/>
            <a:ext cx="2474824" cy="1170432"/>
          </a:xfrm>
          <a:prstGeom prst="roundRect">
            <a:avLst>
              <a:gd name="adj" fmla="val 7813"/>
            </a:avLst>
          </a:prstGeom>
          <a:solidFill>
            <a:srgbClr val="0E3B36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65392" y="4059936"/>
            <a:ext cx="2072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以上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565392" y="4535424"/>
            <a:ext cx="207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县域中心药房建设率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76792" y="3877056"/>
            <a:ext cx="2474824" cy="1170432"/>
          </a:xfrm>
          <a:prstGeom prst="roundRect">
            <a:avLst>
              <a:gd name="adj" fmla="val 7813"/>
            </a:avLst>
          </a:prstGeom>
          <a:solidFill>
            <a:srgbClr val="0E3B36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96248" y="4059936"/>
            <a:ext cx="2072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以上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296248" y="4535424"/>
            <a:ext cx="207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电子健康档案向本人开放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5936" y="5358384"/>
            <a:ext cx="52056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另有硬性要求：县级与市级医疗机构检查检验结果互认项目超 200 项，医共体内常规检查检验项目基本实现互认，全面推行「先诊疗、后结算」。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来源：国卫办基层函〔2025〕121号、国卫办规划函〔2025〕63号、国卫基层运行便函〔2025〕4号、《紧密型县域医疗卫生共同体监测指标体系（2024版）》。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需求诊断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县域信息化的五个真问题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来自三明、东台、嘉善等地的需求诊断，也是每一份县域招标文件反复出现的条目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31720"/>
            <a:ext cx="402336" cy="402336"/>
          </a:xfrm>
          <a:prstGeom prst="ellipse">
            <a:avLst/>
          </a:prstGeom>
          <a:solidFill>
            <a:srgbClr val="E39B3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标准脱节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304288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县乡村分散建设，诊断 / 药品 / 耗材 / 收费四类编码不统一，与国家数据标准体系脱节——这是结果互认与业务联动做不成的根因。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227832"/>
            <a:ext cx="402336" cy="402336"/>
          </a:xfrm>
          <a:prstGeom prst="ellipse">
            <a:avLst/>
          </a:prstGeom>
          <a:solidFill>
            <a:srgbClr val="E39B33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医卫割裂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医疗与公共卫生两套系统各管一段，公卫数据存在「漏、空、假」，医防融合缺少信息化载体。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50208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123944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0965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协同不畅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0" y="4096512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医共体内检查检验不能互认，双向转诊缺乏系统支撑，基层首诊率低，优质资源沉不下去。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5020056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992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管理粗放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26080" y="4992624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人财物分散管理，缺乏覆盖事前预警、事中控制、事后评价的运营监管与绩效考核工具。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742432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5916168"/>
            <a:ext cx="402336" cy="402336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916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58887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体验割裂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26080" y="5888736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院前、院中、院后流程未打通，「一老一小」等重点人群看病难、看病烦问题突出。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总体方案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一个平台、一套数据中心、N 类协同应用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对标功能指引「建设模式」四项要求：省市统筹集约建设 · 统一信创网络 · 优化协同共享 · 完善安全保障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E3F0E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762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服务门户层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2176272"/>
            <a:ext cx="8515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居民端 H5（6 页签）· 医生移动端 H5（8 页签）· 管理端 SPA（89 页面），一数多屏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C9E5E0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8529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协同应用层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852928"/>
            <a:ext cx="8515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五大类 36 项功能 + 全域慢专病全流程管理子系统（十一端一体）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A6D6C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529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平台支撑层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529584"/>
            <a:ext cx="8515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统一认证与患者主索引 EMPI · 规则引擎 · 流程引擎 · 领域事件总线 · 消息与定时调度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6FBCAF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4206240"/>
            <a:ext cx="8515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259 张表统一数据模型 · 诊断/药品/耗材/收费「四统一」编码 · 数据质控与治理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882896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2A9184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882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集成对接层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882896"/>
            <a:ext cx="8515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HL7 v2 ADT / FHIR R4 入站与导出 · ESB 接入注册与消息队列 · 多源数据采集器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559552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116C62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5595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安全运维层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5559552"/>
            <a:ext cx="8515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RBAC + 横向数据隔离 · 审计哈希链 · PII 列加密 · 备份容灾与恢复演练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部署形态：政务云 / 卫生健康专有云集约化部署；县域多个医共体按「主中心 + 分中心」组网，不重复建设县级数据中心机房。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功能全景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五大类 36 项功能，逐项对照全部落地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每一项都在平台内可运行、有自动化测试；主项与子功能两级逐条对照表可直接用于招标响应与验收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323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8867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44752" y="2432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12724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区域医疗服务协同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767328"/>
            <a:ext cx="1691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影像 · 心电 · 检验 · 病理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远程会诊中心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消毒供应中心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县域智慧急救中心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2212848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54096" y="24323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16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054096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432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54096" y="312724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便民惠民服务协同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54096" y="3767328"/>
            <a:ext cx="1691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电子健康卡与就诊凭据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互联网 + 诊疗 / 慢病 / 家医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预约诊疗与双向转诊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中医智能辅诊与共享中药房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基层缺药登记与用药监测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65776" y="2212848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66944" y="24323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8867A"/>
          </a:solidFill>
          <a:ln/>
        </p:spPr>
      </p:sp>
      <p:sp>
        <p:nvSpPr>
          <p:cNvPr id="19" name="Text 17"/>
          <p:cNvSpPr/>
          <p:nvPr/>
        </p:nvSpPr>
        <p:spPr>
          <a:xfrm>
            <a:off x="5266944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70448" y="2432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312724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医疗管理服务协同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66944" y="3767328"/>
            <a:ext cx="1691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检查检验结果互认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县域集中审方中心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医保业务协同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远程医学教育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中医药适宜技术推广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78624" y="2212848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9792" y="24323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16C62"/>
          </a:solidFill>
          <a:ln/>
        </p:spPr>
      </p:sp>
      <p:sp>
        <p:nvSpPr>
          <p:cNvPr id="25" name="Text 23"/>
          <p:cNvSpPr/>
          <p:nvPr/>
        </p:nvSpPr>
        <p:spPr>
          <a:xfrm>
            <a:off x="7479792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083296" y="2432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79792" y="312724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公共卫生服务协同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79792" y="3767328"/>
            <a:ext cx="1691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慢病 · 老年 · 妇幼 · 疫苗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突发公卫事件应急指挥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多点触发监测预警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基层医防协同提醒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91472" y="2212848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92640" y="24323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8867A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296144" y="2432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92640" y="3127248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基层医疗卫生综合管理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692640" y="3767328"/>
            <a:ext cx="1691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综合决策可视化驾驶舱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人力 / 财务 / 物资 / 药耗统管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行政 OA 一体化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医共体绩效统一考核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医疗废弃物全过程追溯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598017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项主功能 · 379 项子功能已按指引清单逐条重审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平台规模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 PPT 里的功能，是代码里的功能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以下数字全部由代码实际状态生成——OpenAPI 路由表、ORM 元数据、前端页面注册表、测试收集数，可现场重新生成复核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523744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946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163824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后端业务接口（730 条路径）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36544" y="2286000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9" name="Text 7"/>
          <p:cNvSpPr/>
          <p:nvPr/>
        </p:nvSpPr>
        <p:spPr>
          <a:xfrm>
            <a:off x="3692576" y="2523744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92576" y="3163824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业务域（OpenAPI 标签）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286000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12" name="Text 10"/>
          <p:cNvSpPr/>
          <p:nvPr/>
        </p:nvSpPr>
        <p:spPr>
          <a:xfrm>
            <a:off x="6489040" y="2523744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89040" y="3163824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统一数据模型表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29471" y="2286000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15" name="Text 13"/>
          <p:cNvSpPr/>
          <p:nvPr/>
        </p:nvSpPr>
        <p:spPr>
          <a:xfrm>
            <a:off x="9285503" y="2523744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85503" y="3163824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管理端页面（8 个导航分组）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41648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279392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2,360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项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6112" y="4919472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自动化测试用例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36544" y="4041648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21" name="Text 19"/>
          <p:cNvSpPr/>
          <p:nvPr/>
        </p:nvSpPr>
        <p:spPr>
          <a:xfrm>
            <a:off x="3692576" y="4279392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项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692576" y="4919472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阻断门（全部强制）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3008" y="4041648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24" name="Text 22"/>
          <p:cNvSpPr/>
          <p:nvPr/>
        </p:nvSpPr>
        <p:spPr>
          <a:xfrm>
            <a:off x="6489040" y="4279392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89040" y="4919472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数据库结构迁移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29471" y="4041648"/>
            <a:ext cx="2522144" cy="1481328"/>
          </a:xfrm>
          <a:prstGeom prst="roundRect">
            <a:avLst>
              <a:gd name="adj" fmla="val 6173"/>
            </a:avLst>
          </a:prstGeom>
          <a:solidFill>
            <a:srgbClr val="082925"/>
          </a:solidFill>
          <a:ln/>
        </p:spPr>
      </p:sp>
      <p:sp>
        <p:nvSpPr>
          <p:cNvPr id="27" name="Text 25"/>
          <p:cNvSpPr/>
          <p:nvPr/>
        </p:nvSpPr>
        <p:spPr>
          <a:xfrm>
            <a:off x="9285503" y="4279392"/>
            <a:ext cx="206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份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285503" y="4919472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架构决策记录 ADR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代码规模：后端 Python 约 6.2 万行，测试代码约 5.2 万行（测试与实现接近 1:1），免构建前端约 0.96 万行。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核心场景一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基层检查 · 上级诊断 · 结果互认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落实「分布式检查、集中式诊断」，把优质诊断能力沉到乡村，把重复检查的钱省下来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40864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3225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基层开单采集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27432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乡镇/村室完成检查采集，电子开单与条码追溯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27248" y="2157984"/>
            <a:ext cx="310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38144" y="2157984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340864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96512" y="23225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上传共享中心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影像 / 波形 / 标本随流程流转，冷链与核收留痕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5312" y="2157984"/>
            <a:ext cx="310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6208" y="2157984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2340864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94576" y="23225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中心集中诊断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55664" y="27432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上级医师领取、出具报告，排班与质控可管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23376" y="2157984"/>
            <a:ext cx="310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34272" y="2157984"/>
            <a:ext cx="248716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3728" y="2340864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5" name="Text 23"/>
          <p:cNvSpPr/>
          <p:nvPr/>
        </p:nvSpPr>
        <p:spPr>
          <a:xfrm>
            <a:off x="9253728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92640" y="23225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报告回传互认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3728" y="27432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结果回传基层并进入互认目录，不互认须填理由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49300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危急值全程闭环：报告出具即秒级广播 → 接收确认 → 处置反馈，全链路留痕，端到端测试覆盖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医学影像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 · 质控 · 移动诊断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17159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33" name="Text 31"/>
          <p:cNvSpPr/>
          <p:nvPr/>
        </p:nvSpPr>
        <p:spPr>
          <a:xfrm>
            <a:off x="2326887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心电诊断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308599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波形上传 · 集中判读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4237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36" name="Text 34"/>
          <p:cNvSpPr/>
          <p:nvPr/>
        </p:nvSpPr>
        <p:spPr>
          <a:xfrm>
            <a:off x="3903965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医学检验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85677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 · 冷链 · 核收 · 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71316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1044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病理诊断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62756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标本流转 · 冷缺血质控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8395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42" name="Text 40"/>
          <p:cNvSpPr/>
          <p:nvPr/>
        </p:nvSpPr>
        <p:spPr>
          <a:xfrm>
            <a:off x="7058123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远程会诊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039835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意见 · 评价 · 计费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25474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45" name="Text 43"/>
          <p:cNvSpPr/>
          <p:nvPr/>
        </p:nvSpPr>
        <p:spPr>
          <a:xfrm>
            <a:off x="8635202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消毒供应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16914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灭菌 · 发放 · 回收追溯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102552" y="4059936"/>
            <a:ext cx="1449063" cy="1417320"/>
          </a:xfrm>
          <a:prstGeom prst="roundRect">
            <a:avLst>
              <a:gd name="adj" fmla="val 6452"/>
            </a:avLst>
          </a:prstGeom>
          <a:solidFill>
            <a:srgbClr val="E6F1EF"/>
          </a:solidFill>
          <a:ln/>
        </p:spPr>
      </p:sp>
      <p:sp>
        <p:nvSpPr>
          <p:cNvPr id="48" name="Text 46"/>
          <p:cNvSpPr/>
          <p:nvPr/>
        </p:nvSpPr>
        <p:spPr>
          <a:xfrm>
            <a:off x="10212280" y="4425696"/>
            <a:ext cx="12296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智慧急救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193992" y="4864608"/>
            <a:ext cx="12661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 · 体征回传 · 上车即入院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互认能力：开单前互认检查、互认建单、不互认理由留痕、互认量与节约测算统计——直接支撑「互认项目超 200 项」的监管口径。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核心场景二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从「每方必审」到「村村有药」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支撑总药师制度与县域中心药房建设：事前监控、事中干预、事后点评，县乡村用药一盘棋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91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505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8867A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50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集中审方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3035808"/>
            <a:ext cx="2972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「系统 + 药师」双重审方，覆盖门诊处方、住院医嘱与互联网处方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 50 条规则库：剂量、相互作用、禁忌诊断、特殊人群、肝肾功能提示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超量拦截、审方权限限定药师角色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事后处方点评与点评要点，形成闭环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0890" y="2194560"/>
            <a:ext cx="342991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8634" y="24505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16C62"/>
          </a:solidFill>
          <a:ln/>
        </p:spPr>
      </p:sp>
      <p:sp>
        <p:nvSpPr>
          <p:cNvPr id="11" name="Text 9"/>
          <p:cNvSpPr/>
          <p:nvPr/>
        </p:nvSpPr>
        <p:spPr>
          <a:xfrm>
            <a:off x="4618634" y="2450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中心药房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8634" y="3035808"/>
            <a:ext cx="2972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库存台账、县乡村余缺调拨、缺药预警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供应商、采购验收、盘点全流程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药品采购建议（按消耗与库存自动测算）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共享中药房：下单 → 调配 → 煎煮 → 配送 → 送达全程追溯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1701" y="2194560"/>
            <a:ext cx="342991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9445" y="24505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8867A"/>
          </a:solidFill>
          <a:ln/>
        </p:spPr>
      </p:sp>
      <p:sp>
        <p:nvSpPr>
          <p:cNvPr id="15" name="Text 13"/>
          <p:cNvSpPr/>
          <p:nvPr/>
        </p:nvSpPr>
        <p:spPr>
          <a:xfrm>
            <a:off x="8359445" y="2450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用药监测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9445" y="3035808"/>
            <a:ext cx="2972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基层缺药登记 → 临时采购 → 配送 → 取药判定，履约率可考核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居民用药画像与多重用药预警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全县用药地图与品种排名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门诊/住院药占比、抗菌药物使用强度（DDDs/百人天）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" y="5047488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88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indent="0" marL="0">
              <a:buNone/>
            </a:pPr>
            <a:r>
              <a:rPr lang="en-US" sz="1300" b="1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7824" y="56692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内置审方规则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18634" y="5047488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88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级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8634" y="56692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县乡村余缺调拨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59445" y="5047488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88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300" b="1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段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59445" y="56692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共享中药房全程追溯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支撑口径：审方量与拦截量、缺药登记履约率、余缺调拨节约测算均可直接进考核，不需要额外统计口径。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核心场景三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以健康为中心：防 — 筛 — 诊 — 治 — 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把公共卫生与临床装进同一套数据里，诊间即可完成建档、签约、随访与调阅，公卫数据不再「漏、空、假」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1883664" cy="969264"/>
          </a:xfrm>
          <a:prstGeom prst="roundRect">
            <a:avLst>
              <a:gd name="adj" fmla="val 9434"/>
            </a:avLst>
          </a:prstGeom>
          <a:solidFill>
            <a:srgbClr val="0E3B3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27066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健康宣教与危险因素干预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23744" y="2176272"/>
            <a:ext cx="365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89504" y="2176272"/>
            <a:ext cx="1883664" cy="969264"/>
          </a:xfrm>
          <a:prstGeom prst="roundRect">
            <a:avLst>
              <a:gd name="adj" fmla="val 9434"/>
            </a:avLst>
          </a:prstGeom>
          <a:solidFill>
            <a:srgbClr val="0E3B36"/>
          </a:solidFill>
          <a:ln/>
        </p:spPr>
      </p:sp>
      <p:sp>
        <p:nvSpPr>
          <p:cNvPr id="10" name="Text 8"/>
          <p:cNvSpPr/>
          <p:nvPr/>
        </p:nvSpPr>
        <p:spPr>
          <a:xfrm>
            <a:off x="3035808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35808" y="27066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机会性/主动筛查与复核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73168" y="2176272"/>
            <a:ext cx="365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38928" y="2176272"/>
            <a:ext cx="1883664" cy="969264"/>
          </a:xfrm>
          <a:prstGeom prst="roundRect">
            <a:avLst>
              <a:gd name="adj" fmla="val 9434"/>
            </a:avLst>
          </a:prstGeom>
          <a:solidFill>
            <a:srgbClr val="0E3B36"/>
          </a:solidFill>
          <a:ln/>
        </p:spPr>
      </p:sp>
      <p:sp>
        <p:nvSpPr>
          <p:cNvPr id="14" name="Text 12"/>
          <p:cNvSpPr/>
          <p:nvPr/>
        </p:nvSpPr>
        <p:spPr>
          <a:xfrm>
            <a:off x="5285232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85232" y="27066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智能辅诊与医防协同提醒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22592" y="2176272"/>
            <a:ext cx="365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88352" y="2176272"/>
            <a:ext cx="1883664" cy="969264"/>
          </a:xfrm>
          <a:prstGeom prst="roundRect">
            <a:avLst>
              <a:gd name="adj" fmla="val 9434"/>
            </a:avLst>
          </a:prstGeom>
          <a:solidFill>
            <a:srgbClr val="0E3B36"/>
          </a:solidFill>
          <a:ln/>
        </p:spPr>
      </p:sp>
      <p:sp>
        <p:nvSpPr>
          <p:cNvPr id="18" name="Text 16"/>
          <p:cNvSpPr/>
          <p:nvPr/>
        </p:nvSpPr>
        <p:spPr>
          <a:xfrm>
            <a:off x="7534656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34656" y="27066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标准路径与用药管理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72016" y="2176272"/>
            <a:ext cx="365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37776" y="2176272"/>
            <a:ext cx="1883664" cy="969264"/>
          </a:xfrm>
          <a:prstGeom prst="roundRect">
            <a:avLst>
              <a:gd name="adj" fmla="val 9434"/>
            </a:avLst>
          </a:prstGeom>
          <a:solidFill>
            <a:srgbClr val="0E3B36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784080" y="27066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随访、评估、转诊与考核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364992"/>
            <a:ext cx="34542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9536" y="3511296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慢病一体化管理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" y="3840480"/>
            <a:ext cx="30336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类重点病种目录（分级规则 / 指导要点 / 随访周期），目录驱动智能分级与超期预警；高血压、2 型糖尿病、高脂血症、肥胖症膳食运动指导要点已嵌入接诊与随访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68698" y="3364992"/>
            <a:ext cx="34542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88154" y="3511296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老年健康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88154" y="3840480"/>
            <a:ext cx="30336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ADL 自理能力自动分级、失能清单、重度失能与复评到期健康预警；家庭病床与上门服务派单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97317" y="3364992"/>
            <a:ext cx="34542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16773" y="3511296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妇幼保健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16773" y="3840480"/>
            <a:ext cx="30336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孕产妇建册 / 高危 / 访视、分娩记录、新生儿筛查与高危儿、产前筛查与诊断，出生医学证明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956048"/>
            <a:ext cx="34542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9536" y="5102352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传染病与监测预警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" y="5431536"/>
            <a:ext cx="30336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法定传染病目录（甲类 2 小时 / 乙丙类 24 小时）、迟报统计；症候群、药品、学校缺勤等多点触发预警与应急指挥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68698" y="4956048"/>
            <a:ext cx="34542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88154" y="5102352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疫苗接种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88154" y="5431536"/>
            <a:ext cx="30336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接种登记、禁忌拦截、接种前评估；批次冷链温控与 AEFI 上报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7317" y="4956048"/>
            <a:ext cx="34542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16773" y="5102352"/>
            <a:ext cx="301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随访中心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16773" y="5431536"/>
            <a:ext cx="303367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慢病 / 出院 / 术后 / 妇幼四类随访统一任务模型，出院与手术结案自动派生任务，不靠人记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核心场景四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事前预警 · 事中控制 · 事后评价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驾驶舱指标库直接内置《监测指标体系（2024版）》，自动采集、按月研判，指标卡与预警可点击下钻到明细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29200" cy="3877056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591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项二级监测指标的五个维度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59536" y="2761488"/>
          <a:ext cx="457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2486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每项指标同时给出分子、分母与统计口径，未采集的不进分母——数字要能被追问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0176" y="2194560"/>
            <a:ext cx="55714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2304288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绩效统一考核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0" y="2578608"/>
            <a:ext cx="51142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按机构自动汇算五维评分与排名，指标可调权；结果与公卫经费、医保支付、绩效工资总量测算挂钩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0176" y="3163824"/>
            <a:ext cx="55714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273552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医保基金总额付费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7920" y="3547872"/>
            <a:ext cx="51142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基金池 → 预付批次 → 月度预结（账面对冲，不产生资金流）→ 年终清算 → 按公式分配结余；分配依据是冻结的绩效得分快照，超支只记录不自动扣减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0176" y="4133088"/>
            <a:ext cx="55714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4242816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财务与成本核算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17920" y="4517136"/>
            <a:ext cx="51142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会计凭证借贷平衡强校验、过账锁定与试算平衡；科室直接成本归集、分摊规则、诊次成本与床日成本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0176" y="5102352"/>
            <a:ext cx="55714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17920" y="5212080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运行监控与审计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17920" y="5486400"/>
            <a:ext cx="51142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环境概览、接口调用统计与慢请求样本、集群心跳；写操作审计哈希链与审计统计趋势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拳头产品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全域慢专病全流程管理 · 十一端一体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依据招标文件十一个端共 163 条技术服务要求建设，逐条对照表可直接用于投标响应与验收核对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2522144" cy="1097280"/>
          </a:xfrm>
          <a:prstGeom prst="roundRect">
            <a:avLst>
              <a:gd name="adj" fmla="val 8333"/>
            </a:avLst>
          </a:prstGeom>
          <a:solidFill>
            <a:srgbClr val="082925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304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77824" y="2798064"/>
            <a:ext cx="206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需求逐条对照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36544" y="2157984"/>
            <a:ext cx="2522144" cy="1097280"/>
          </a:xfrm>
          <a:prstGeom prst="roundRect">
            <a:avLst>
              <a:gd name="adj" fmla="val 8333"/>
            </a:avLst>
          </a:prstGeom>
          <a:solidFill>
            <a:srgbClr val="082925"/>
          </a:solidFill>
          <a:ln/>
        </p:spPr>
      </p:sp>
      <p:sp>
        <p:nvSpPr>
          <p:cNvPr id="9" name="Text 7"/>
          <p:cNvSpPr/>
          <p:nvPr/>
        </p:nvSpPr>
        <p:spPr>
          <a:xfrm>
            <a:off x="3674288" y="2304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74288" y="2798064"/>
            <a:ext cx="206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子系统接口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157984"/>
            <a:ext cx="2522144" cy="1097280"/>
          </a:xfrm>
          <a:prstGeom prst="roundRect">
            <a:avLst>
              <a:gd name="adj" fmla="val 8333"/>
            </a:avLst>
          </a:prstGeom>
          <a:solidFill>
            <a:srgbClr val="082925"/>
          </a:solidFill>
          <a:ln/>
        </p:spPr>
      </p:sp>
      <p:sp>
        <p:nvSpPr>
          <p:cNvPr id="12" name="Text 10"/>
          <p:cNvSpPr/>
          <p:nvPr/>
        </p:nvSpPr>
        <p:spPr>
          <a:xfrm>
            <a:off x="6470752" y="2304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70752" y="2798064"/>
            <a:ext cx="206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子系统数据表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29471" y="2157984"/>
            <a:ext cx="2522144" cy="1097280"/>
          </a:xfrm>
          <a:prstGeom prst="roundRect">
            <a:avLst>
              <a:gd name="adj" fmla="val 8333"/>
            </a:avLst>
          </a:prstGeom>
          <a:solidFill>
            <a:srgbClr val="082925"/>
          </a:solidFill>
          <a:ln/>
        </p:spPr>
      </p:sp>
      <p:sp>
        <p:nvSpPr>
          <p:cNvPr id="15" name="Text 13"/>
          <p:cNvSpPr/>
          <p:nvPr/>
        </p:nvSpPr>
        <p:spPr>
          <a:xfrm>
            <a:off x="9267215" y="2304288"/>
            <a:ext cx="206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67215" y="2798064"/>
            <a:ext cx="206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3814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63016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343814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平台管理端（运行中枢）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8256" y="343814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21" name="Shape 19"/>
          <p:cNvSpPr/>
          <p:nvPr/>
        </p:nvSpPr>
        <p:spPr>
          <a:xfrm>
            <a:off x="3601136" y="363016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22" name="Text 20"/>
          <p:cNvSpPr/>
          <p:nvPr/>
        </p:nvSpPr>
        <p:spPr>
          <a:xfrm>
            <a:off x="3820592" y="343814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卫健管理端（决策监管）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6432" y="343814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9312" y="363016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25" name="Text 23"/>
          <p:cNvSpPr/>
          <p:nvPr/>
        </p:nvSpPr>
        <p:spPr>
          <a:xfrm>
            <a:off x="6598768" y="343814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专病专家端（临床指导）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74607" y="343814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27" name="Shape 25"/>
          <p:cNvSpPr/>
          <p:nvPr/>
        </p:nvSpPr>
        <p:spPr>
          <a:xfrm>
            <a:off x="9157487" y="363016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28" name="Text 26"/>
          <p:cNvSpPr/>
          <p:nvPr/>
        </p:nvSpPr>
        <p:spPr>
          <a:xfrm>
            <a:off x="9376943" y="343814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全程管理中心端（统筹调度）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07822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427024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31" name="Text 29"/>
          <p:cNvSpPr/>
          <p:nvPr/>
        </p:nvSpPr>
        <p:spPr>
          <a:xfrm>
            <a:off x="1042416" y="407822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服务团队专家端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18256" y="407822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33" name="Shape 31"/>
          <p:cNvSpPr/>
          <p:nvPr/>
        </p:nvSpPr>
        <p:spPr>
          <a:xfrm>
            <a:off x="3601136" y="427024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34" name="Text 32"/>
          <p:cNvSpPr/>
          <p:nvPr/>
        </p:nvSpPr>
        <p:spPr>
          <a:xfrm>
            <a:off x="3820592" y="407822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服务团队成员端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6432" y="407822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36" name="Shape 34"/>
          <p:cNvSpPr/>
          <p:nvPr/>
        </p:nvSpPr>
        <p:spPr>
          <a:xfrm>
            <a:off x="6379312" y="427024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37" name="Text 35"/>
          <p:cNvSpPr/>
          <p:nvPr/>
        </p:nvSpPr>
        <p:spPr>
          <a:xfrm>
            <a:off x="6598768" y="407822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个案管理师端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74607" y="407822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39" name="Shape 37"/>
          <p:cNvSpPr/>
          <p:nvPr/>
        </p:nvSpPr>
        <p:spPr>
          <a:xfrm>
            <a:off x="9157487" y="427024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40" name="Text 38"/>
          <p:cNvSpPr/>
          <p:nvPr/>
        </p:nvSpPr>
        <p:spPr>
          <a:xfrm>
            <a:off x="9376943" y="407822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村医端（移动）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71830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960" y="491032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43" name="Text 41"/>
          <p:cNvSpPr/>
          <p:nvPr/>
        </p:nvSpPr>
        <p:spPr>
          <a:xfrm>
            <a:off x="1042416" y="471830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患者移动端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18256" y="471830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45" name="Shape 43"/>
          <p:cNvSpPr/>
          <p:nvPr/>
        </p:nvSpPr>
        <p:spPr>
          <a:xfrm>
            <a:off x="3601136" y="491032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46" name="Text 44"/>
          <p:cNvSpPr/>
          <p:nvPr/>
        </p:nvSpPr>
        <p:spPr>
          <a:xfrm>
            <a:off x="3820592" y="471830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智能随访服务端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6432" y="4718304"/>
            <a:ext cx="2577008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379312" y="4910328"/>
            <a:ext cx="128016" cy="128016"/>
          </a:xfrm>
          <a:prstGeom prst="ellipse">
            <a:avLst/>
          </a:prstGeom>
          <a:solidFill>
            <a:srgbClr val="5FB3A6"/>
          </a:solidFill>
          <a:ln/>
        </p:spPr>
      </p:sp>
      <p:sp>
        <p:nvSpPr>
          <p:cNvPr id="49" name="Text 47"/>
          <p:cNvSpPr/>
          <p:nvPr/>
        </p:nvSpPr>
        <p:spPr>
          <a:xfrm>
            <a:off x="6598768" y="4718304"/>
            <a:ext cx="202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智能辅助应用端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5449824"/>
            <a:ext cx="10911535" cy="768096"/>
          </a:xfrm>
          <a:prstGeom prst="roundRect">
            <a:avLst>
              <a:gd name="adj" fmla="val 11905"/>
            </a:avLst>
          </a:prstGeom>
          <a:solidFill>
            <a:srgbClr val="116C62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5449824"/>
            <a:ext cx="103628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以「可装卸子系统」形态装在平台内：</a:t>
            </a:r>
            <a:pPr indent="0" marL="0">
              <a:buNone/>
            </a:pPr>
            <a:r>
              <a:rPr lang="en-US" sz="12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独立包、单向依赖、自成迁移分支，边界由 AST 静态测试强制——既能与平台一体交付（共用患者、机构、任务、消息、考核底座），也能作为独立产品单独售卖。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业务闭环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「筛出来」≠「管起来」：八段闭环，每段都有数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筛查、目标池、纳管是三张表三个阶段，中间可停可退，所以筛查人数与纳管人数永远是两个数，不混着报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77440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3591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纳排与目标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27980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病种纳入/排除规则、量化与定性管理目标、阶段与关键节点可配置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27248" y="2194560"/>
            <a:ext cx="310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38144" y="2194560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377440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78224" y="23591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筛查与复核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39312" y="27980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机会性 / 主动 / 居民自查 / 数据比对四类筛查，高风险复核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25312" y="2194560"/>
            <a:ext cx="310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6208" y="2194560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377440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23591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目标池分发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37376" y="27980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目标池分发、认领、状态流转，跨机构迁出需目标机构确认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23376" y="2194560"/>
            <a:ext cx="310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34272" y="2194560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2377440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74352" y="23591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签约建档纳管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35440" y="27980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团队、主管医生、个案管理师、村医与知情同意一并落地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822192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005072"/>
            <a:ext cx="365760" cy="365760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39867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标准路径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" y="442569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路径模板新建/复制/发布/启停，节点进入条件与超时处理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27248" y="3822192"/>
            <a:ext cx="310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38144" y="3822192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39312" y="4005072"/>
            <a:ext cx="365760" cy="365760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36" name="Text 34"/>
          <p:cNvSpPr/>
          <p:nvPr/>
        </p:nvSpPr>
        <p:spPr>
          <a:xfrm>
            <a:off x="3639312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78224" y="39867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监测与干预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639312" y="442569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手工/设备/院内/POCT 数据落库即按目标判等级，异常自动派任务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25312" y="3822192"/>
            <a:ext cx="310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36208" y="3822192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37376" y="4005072"/>
            <a:ext cx="365760" cy="365760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76288" y="39867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逐级转诊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37376" y="442569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村医 → 服务站 → 卫生院 → 县医院，含有效就诊判定与下转随访闭环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23376" y="3822192"/>
            <a:ext cx="310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B3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34272" y="3822192"/>
            <a:ext cx="2487168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35440" y="4005072"/>
            <a:ext cx="365760" cy="365760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48" name="Text 46"/>
          <p:cNvSpPr/>
          <p:nvPr/>
        </p:nvSpPr>
        <p:spPr>
          <a:xfrm>
            <a:off x="923544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74352" y="39867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考核与积分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235440" y="442569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自动取数计分、扣分明细可下钻；村医积分获取、兑换与线下核销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" y="548640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E6F1EF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贯穿全系统的口径：</a:t>
            </a:r>
            <a:pPr indent="0" marL="0">
              <a:buNone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慢病与专病并行运行、共用底座、分别统计；② 筛查 ≠ 纳管，三张表三阶段；③ 任务只有一张表——路径节点、随访、干预、评估、复诊、转诊、上报共用统一任务模型，「接收/转派/催办/超时升级/批量/导出」因此只实现一次。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使用体验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一数多屏：管理端 · 居民端 · 医生端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三套界面同源内嵌，同一份数据、同一套权限；前端免构建，部署即用，不依赖打包工具链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914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432304"/>
            <a:ext cx="2917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管理端 SPA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29178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8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pPr indent="0" marL="0">
              <a:buNone/>
            </a:pPr>
            <a:r>
              <a:rPr lang="en-US" sz="10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个页面 · 8 个导航分组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3493008"/>
            <a:ext cx="293613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总览与决策驾驶舱、基础平台、业务协同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医防融合、便民惠民、全域慢专病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综合管理、系统管理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每个后端业务模块都有对应入口（有防回退测试）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0890" y="2194560"/>
            <a:ext cx="3429914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6922" y="2432304"/>
            <a:ext cx="2917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居民端 H5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922" y="2834640"/>
            <a:ext cx="29178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10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个页签 · 移动优先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36922" y="3493008"/>
            <a:ext cx="293613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 / 手机号验证码登录 + 实名绑定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家庭成员代管与档案切换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自助预约、住院与费用清单、手术安排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 / 账单 / 转诊查询、慢专病自我管理、站内消息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1701" y="2194560"/>
            <a:ext cx="3429914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7733" y="2432304"/>
            <a:ext cx="2917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医生移动端 H5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7733" y="2834640"/>
            <a:ext cx="29178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8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buNone/>
            </a:pPr>
            <a:r>
              <a:rPr lang="en-US" sz="10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个页签 · 查房即录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77733" y="3493008"/>
            <a:ext cx="293613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待办收件箱、危急值确认与处置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待审检查申请领取与出报告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查房（病程记录 / 体征 / 文书完整性）、手术排班与术中记录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慢病随访录入、慢专病待办、患者档案速查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端到端测试用真实浏览器驱动关键链路：登录 → 驾驶舱 → 开单 → 出报告（危急值）→ 确认接收 → 处置闭环，以及住院文书、手术全流程与医生移动端登录。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技术架构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一个进程装得下，一套数据说得清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单进程 FastAPI 单体 + 可装卸子系统：县域体量下最省运维的形态，也保留了拆分的接缝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8521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591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运行拓扑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798064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E6F1EF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2798064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 / H5 / 小程序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511296"/>
            <a:ext cx="5303520" cy="1316736"/>
          </a:xfrm>
          <a:prstGeom prst="roundRect">
            <a:avLst>
              <a:gd name="adj" fmla="val 6944"/>
            </a:avLst>
          </a:prstGeom>
          <a:solidFill>
            <a:srgbClr val="18867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3602736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Uvicorn + FastAPI 应用进程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400507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中间件：安全响应头 → 结构化请求日志 → 审计落库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90 个路由模块  +  register_spd() 装载慢专病子系统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WebSocket 实时预警  ·  进程内定时调度器  ·  领域事件总线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4974336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0E3B3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4974336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16  ·  Redis 7（可选）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572414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外部通道均为双态设计（短信 / 微信 / 外呼 / 支付）：开发演示走本地通道，接真实通道只改环境变量，业务代码不动。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3136" y="2194560"/>
            <a:ext cx="4748479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59168" y="2340864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59168" y="2706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/ 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66176" y="2706624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+ Uvicorn · SQLAlchemy 2.x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59168" y="3017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6176" y="3017520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16（开发 SQLite）· Redis 7 可选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9168" y="3328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结构迁移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66176" y="3328416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Alembic 双 head（平台链 + 慢专病链），89 个迁移全部实现回退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59168" y="36393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66176" y="3639312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 JS 免构建 SPA，三端同源内嵌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59168" y="3950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66176" y="3950208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自制 JWT（HMAC-SHA256 / 国密 SM3），员工端与居民端双身份 scope 隔离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4553712"/>
            <a:ext cx="4748479" cy="1755648"/>
          </a:xfrm>
          <a:prstGeom prst="roundRect">
            <a:avLst>
              <a:gd name="adj" fmla="val 5208"/>
            </a:avLst>
          </a:prstGeom>
          <a:solidFill>
            <a:srgbClr val="E6F1EF"/>
          </a:solidFill>
          <a:ln/>
        </p:spPr>
      </p:sp>
      <p:sp>
        <p:nvSpPr>
          <p:cNvPr id="28" name="Text 26"/>
          <p:cNvSpPr/>
          <p:nvPr/>
        </p:nvSpPr>
        <p:spPr>
          <a:xfrm>
            <a:off x="7059168" y="466344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6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三个写进代码的关键取舍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59168" y="4974336"/>
            <a:ext cx="4254703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金额一律定点数 Numeric(14,2)，换库不会「同一笔账算出两个数」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领域事件同事务同步发布，不引入队列，避免最终一致性带来的对账工作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子系统单向依赖、可装卸，边界由静态测试守住，不靠口头约定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工程质量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交付得出去，也维护得下去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医疗系统真正的成本在交付之后。这套平台把「不退步」做成了机制，而不是口号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39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六项 CI 门禁，全部阻断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23744"/>
            <a:ext cx="5394960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587752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3584" y="252374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字节编译 + 迁移图校验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52374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 head 拓扑正确，迁移可执行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5394960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3154680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3584" y="309067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ruff 代码规范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090672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存量清零，新增报错即拦截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94960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3721608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365760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mypy 静态类型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657600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存量清零；先跑环境探针，杜绝「假绿」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224528"/>
            <a:ext cx="5394960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" y="4288536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2245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 + 冒烟测试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4224528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进程内 SQLite 快速套件 + 应用可启动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791456"/>
            <a:ext cx="5394960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" y="4855464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43584" y="479145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集成测试（真 PostgreSQL）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4791456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空库跑通迁移，逐表逐列比对模型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358384"/>
            <a:ext cx="5394960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" y="5422392"/>
            <a:ext cx="365760" cy="365760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5422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43584" y="535838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覆盖率门禁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66160" y="535838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行覆盖率实测 92%，阈值 70% 阻断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45936" y="2139696"/>
            <a:ext cx="5205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治理棘轮：基线只许调小，绝不许变大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45936" y="2523744"/>
            <a:ext cx="5205679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252374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核心数据不可变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2523744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一个核心概念只有一张权威表，身份字段单一归属，另造平行主数据即报错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45936" y="3090672"/>
            <a:ext cx="5205679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309067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核心表冻结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1040" y="3090672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张核心表的列集合快照锁定，改列须先写架构决策记录（ADR）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45936" y="3657600"/>
            <a:ext cx="5205679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44" name="Text 42"/>
          <p:cNvSpPr/>
          <p:nvPr/>
        </p:nvSpPr>
        <p:spPr>
          <a:xfrm>
            <a:off x="6565392" y="36576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接口契约棘轮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1040" y="3657600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新端点漏声明响应契约即报错，欠账只许变小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45936" y="4224528"/>
            <a:ext cx="5205679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47" name="Text 45"/>
          <p:cNvSpPr/>
          <p:nvPr/>
        </p:nvSpPr>
        <p:spPr>
          <a:xfrm>
            <a:off x="6565392" y="4224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子系统边界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21040" y="4224528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AST 扫描强制单向依赖与独立迁移分支，破边界即报错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45936" y="4791456"/>
            <a:ext cx="5205679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50" name="Text 48"/>
          <p:cNvSpPr/>
          <p:nvPr/>
        </p:nvSpPr>
        <p:spPr>
          <a:xfrm>
            <a:off x="6565392" y="479145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并发写入防复发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21040" y="4791456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写唯一约束表的接口必须处理冲突，静态用例逐个盯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45936" y="5358384"/>
            <a:ext cx="5205679" cy="493776"/>
          </a:xfrm>
          <a:prstGeom prst="roundRect">
            <a:avLst>
              <a:gd name="adj" fmla="val 18519"/>
            </a:avLst>
          </a:prstGeom>
          <a:solidFill>
            <a:srgbClr val="082925"/>
          </a:solidFill>
          <a:ln/>
        </p:spPr>
      </p:sp>
      <p:sp>
        <p:nvSpPr>
          <p:cNvPr id="53" name="Text 51"/>
          <p:cNvSpPr/>
          <p:nvPr/>
        </p:nvSpPr>
        <p:spPr>
          <a:xfrm>
            <a:off x="6565392" y="535838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迁移数据安全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21040" y="5358384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迁移不得静默改动存量业务数据，AST 扫描全部迁移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配套资产：六张架构地图（架构 / 模块 / 数据 / 接口 / 依赖 / 技术债）+ 14 份架构决策记录 + 用户手册、运维手册、接口对接规范、培训手册，交付即可移交。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安全合规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医疗数据的底线，写进测试里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落实网络安全等级保护与商用密码应用要求，个人隐私保护贯穿采集、存储、查询、出口、审计全链路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5429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14016"/>
            <a:ext cx="384048" cy="38404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3312" y="2395728"/>
            <a:ext cx="2539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身份与权限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2871216"/>
            <a:ext cx="299709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六类内置角色 RBAC + 从路由表自动登记的自定义权限点；员工端与居民端两套身份共用格式、靠 scope 双向拒绝；登出令牌黑名单与登录防爆破锁定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68698" y="2194560"/>
            <a:ext cx="345429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6442" y="2414016"/>
            <a:ext cx="384048" cy="38404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60644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81930" y="2395728"/>
            <a:ext cx="2539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横向数据隔离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06442" y="2871216"/>
            <a:ext cx="299709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机构维度三档可见性（可见 / 可统计 / 可写）+ 患者维度七类业务关系推导；判定与留痕在同一次调用里完成，不存在「查了没记」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97317" y="2194560"/>
            <a:ext cx="345429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5061" y="2414016"/>
            <a:ext cx="384048" cy="38404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17" name="Text 15"/>
          <p:cNvSpPr/>
          <p:nvPr/>
        </p:nvSpPr>
        <p:spPr>
          <a:xfrm>
            <a:off x="8335061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10549" y="2395728"/>
            <a:ext cx="2539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隐私保护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5061" y="2871216"/>
            <a:ext cx="299709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身份证号 / 手机号支持列加密存储（SM4-CTR + HMAC 检索索引），出口统一脱敏；等值检索强制走加密安全通道，裸写查询由静态用例拦截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005072"/>
            <a:ext cx="345429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4224528"/>
            <a:ext cx="384048" cy="38404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206240"/>
            <a:ext cx="2539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审计留痕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4681728"/>
            <a:ext cx="299709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所有写操作进审计哈希链，敏感读进调阅日志；审计统计给出趋势、失败码分布与高频操作，可追溯到人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68698" y="4005072"/>
            <a:ext cx="345429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6442" y="4224528"/>
            <a:ext cx="384048" cy="38404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606442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1930" y="4206240"/>
            <a:ext cx="2539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信创适配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06442" y="4681728"/>
            <a:ext cx="299709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 个金额列改定点数，国产库聚合精确；可移植性护栏钉住方言差异；国密 SM3 用于散列与 MAC，SM2/SM4 建议接硬件密码机而非自实现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97317" y="4005072"/>
            <a:ext cx="345429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5061" y="4224528"/>
            <a:ext cx="384048" cy="38404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32" name="Text 30"/>
          <p:cNvSpPr/>
          <p:nvPr/>
        </p:nvSpPr>
        <p:spPr>
          <a:xfrm>
            <a:off x="8335061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10549" y="4206240"/>
            <a:ext cx="25398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备份与容灾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5061" y="4681728"/>
            <a:ext cx="299709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+ 附件 + 密钥指纹一体备份，配套恢复与恢复演练脚本；生产凭据强度守卫，弱口令与占位符密钥直接拒绝启动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如实说明：等保测评、密评与异地灾备属部署期工作，需在目标环境完成；平台侧已做完的与部署期须做的，在《信创适配与备份容灾》文档中分开列明，不混为一谈。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交付能力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不做孤岛：进得来、出得去、落得下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县域现场从来不是空地——存量 HIS、LIS、公卫系统与省市平台都要接。集成能力是实施周期的决定因素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03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6888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18867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3090672"/>
            <a:ext cx="47882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HL7 v2 ADT 与 FHIR R4（Patient · Observation）入站转换与导出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集成平台 ESB：接入方注册（令牌 + 限流）、消息队列重试与死信、流程编排、成功率与积压统计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多源数据采集器与同步监控：成功时间、数据量、延迟、成功率、运行状态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统一编码字典与批量导入，内置常用 ICD-10 诊断与药品目录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外部通道双态：短信 / 微信 / 外呼 / 支付网关，配置即切换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1296" y="2194560"/>
            <a:ext cx="53003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7328" y="246888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116C62"/>
          </a:solidFill>
          <a:ln/>
        </p:spPr>
      </p:sp>
      <p:sp>
        <p:nvSpPr>
          <p:cNvPr id="11" name="Text 9"/>
          <p:cNvSpPr/>
          <p:nvPr/>
        </p:nvSpPr>
        <p:spPr>
          <a:xfrm>
            <a:off x="6507328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实施交付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07328" y="3090672"/>
            <a:ext cx="47882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compose 一键起 应用 + PostgreSQL 16 + Redis 7，容器启动自动执行结构迁移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存量数据 CSV 批量导入，支持 dry-run 校验模式与错误行明细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演示数据一键灌入，覆盖全部模块，脚本末尾自带终态自检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压测基线脚本：7 个核心场景的 P50 / P95 / QPS，可作容量规划依据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文档体系：用户手册、运维手册、接口对接规范、培训手册、系统功能清单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3276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分期建议：第一期夯基达标（基础平台 + 五个核心共享中心 + 中心药房 + 互认 + 档案开放）；第二期扩面协同；第三期智能提升。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6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客户价值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惠民 · 惠医 · 惠政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同一套系统，对三类使用者给出三种可被验收的结果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914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50592"/>
            <a:ext cx="658368" cy="658368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惠民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64208" y="2450592"/>
            <a:ext cx="21497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310128"/>
            <a:ext cx="291785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一卡（码）通用，检查检验少跑腿、少重复付费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预约、住院费用清单、手术安排、账单转诊掌上可查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电子健康档案向本人开放，家庭成员可代管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慢病管理到家：监测、随访、干预、宣教线上线下一体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0890" y="2194560"/>
            <a:ext cx="3429914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922" y="2450592"/>
            <a:ext cx="658368" cy="658368"/>
          </a:xfrm>
          <a:prstGeom prst="ellipse">
            <a:avLst/>
          </a:prstGeom>
          <a:solidFill>
            <a:srgbClr val="116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92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惠医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05018" y="2450592"/>
            <a:ext cx="21497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医务人员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6922" y="3310128"/>
            <a:ext cx="291785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基层检查、上级诊断、结果互认，优质资源真正下沉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危急值秒级触达并留痕，待办与随访自动派生，不靠人记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查房、手术、随访在移动端即录即存，减少二次录入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审方与规则引擎兜住用药风险，减少事后追责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1701" y="2194560"/>
            <a:ext cx="3429914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E3B3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7733" y="2450592"/>
            <a:ext cx="658368" cy="658368"/>
          </a:xfrm>
          <a:prstGeom prst="ellipse">
            <a:avLst/>
          </a:prstGeom>
          <a:solidFill>
            <a:srgbClr val="18867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7733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惠政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5829" y="2450592"/>
            <a:ext cx="21497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80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卫健与医共体管理层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77733" y="3310128"/>
            <a:ext cx="291785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人财物统一监管，14 项监测指标自动出数、可下钻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绩效考核数据化，与公卫经费、医保支付、薪酬测算挂钩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医保基金效能可监测，总额付费与结余分配有据可依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63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传染病与公卫风险多点触发预警，应急有指挥载体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投资亮点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可复制 · 可交付 · 可扩展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县域市场的竞争不在功能清单长度，而在「能不能按期验收、能不能持续演进」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082925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86584"/>
            <a:ext cx="402336" cy="402336"/>
          </a:xfrm>
          <a:prstGeom prst="ellipse">
            <a:avLst/>
          </a:prstGeom>
          <a:solidFill>
            <a:srgbClr val="E39B3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28600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政策确定性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257860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项功能逐项对照、慢专病 163 条逐条对照——招标条目可直接响应，投标不做二次翻译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082925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3319272"/>
            <a:ext cx="402336" cy="402336"/>
          </a:xfrm>
          <a:prstGeom prst="ellipse">
            <a:avLst/>
          </a:prstGeom>
          <a:solidFill>
            <a:srgbClr val="E39B3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321868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产品完整度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3511296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946 个接口覆盖 90 个业务域，是县域全场景平台而非单点工具，替换成本高、粘性强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08292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4251960"/>
            <a:ext cx="402336" cy="402336"/>
          </a:xfrm>
          <a:prstGeom prst="ellipse">
            <a:avLst/>
          </a:prstGeom>
          <a:solidFill>
            <a:srgbClr val="E39B33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4151376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可装卸子系统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9888" y="444398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慢专病既可随平台整体交付，也可作为独立产品单独售卖；边界由测试守住，不是营销话术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082925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5184648"/>
            <a:ext cx="402336" cy="402336"/>
          </a:xfrm>
          <a:prstGeom prst="ellipse">
            <a:avLst/>
          </a:prstGeom>
          <a:solidFill>
            <a:srgbClr val="E39B33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5084064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工程可维护性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89888" y="5376672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2,360 项测试 + 六项阻断门 + 治理棘轮，交付后仍能安全迭代，长期服务成本可控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3136" y="2176272"/>
            <a:ext cx="47484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建设分期路线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03136" y="2578608"/>
            <a:ext cx="4748479" cy="1005840"/>
          </a:xfrm>
          <a:prstGeom prst="roundRect">
            <a:avLst>
              <a:gd name="adj" fmla="val 9091"/>
            </a:avLst>
          </a:prstGeom>
          <a:solidFill>
            <a:srgbClr val="082925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688336"/>
            <a:ext cx="4291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第一期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夯基达标（第 1 年）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999232"/>
            <a:ext cx="4291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基础平台与数据中心、统一编码与主索引、五个核心共享中心与中心药房、结果互认与档案开放、等保与灾备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03136" y="3712464"/>
            <a:ext cx="4748479" cy="1005840"/>
          </a:xfrm>
          <a:prstGeom prst="roundRect">
            <a:avLst>
              <a:gd name="adj" fmla="val 9091"/>
            </a:avLst>
          </a:prstGeom>
          <a:solidFill>
            <a:srgbClr val="082925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3822192"/>
            <a:ext cx="4291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第二期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扩面协同（第 2 年）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133088"/>
            <a:ext cx="4291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 / 消供 / 急救中心上线，远程医疗延伸至村室，便民惠民九项与医防融合全面上线，人财物与绩效、驾驶舱投运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03136" y="4846320"/>
            <a:ext cx="4748479" cy="1005840"/>
          </a:xfrm>
          <a:prstGeom prst="roundRect">
            <a:avLst>
              <a:gd name="adj" fmla="val 9091"/>
            </a:avLst>
          </a:prstGeom>
          <a:solidFill>
            <a:srgbClr val="082925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4956048"/>
            <a:ext cx="4291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第三期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智能提升（第 3 年起）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5266944"/>
            <a:ext cx="4291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辅助诊断、智能审方、多点触发预警深化，用药监测与健康画像，对标监测指标滚动优化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120640" cy="5120640"/>
          </a:xfrm>
          <a:prstGeom prst="ellipse">
            <a:avLst/>
          </a:prstGeom>
          <a:solidFill>
            <a:srgbClr val="18867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097280"/>
            <a:ext cx="4206240" cy="4206240"/>
          </a:xfrm>
          <a:prstGeom prst="ellipse">
            <a:avLst/>
          </a:prstGeom>
          <a:solidFill>
            <a:srgbClr val="5FB3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一家人 · 一盘棋 · 一本账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D8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县域医共体信息化平台 medplat　·　全域慢专病全流程管理子系统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87705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欢迎实地演示与逐条走查：功能对照表、系统功能清单、接口文档与测试报告均可现场打开复核。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1447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依据：国卫办规划函〔2025〕63号《紧密型县域医共体信息化功能指引》等文件建设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县域医共体信息化平台介绍</dc:title>
  <dc:subject>PptxGenJS Presentation</dc:subject>
  <dc:creator>medplat</dc:creator>
  <cp:lastModifiedBy>medplat</cp:lastModifiedBy>
  <cp:revision>1</cp:revision>
  <dcterms:created xsi:type="dcterms:W3CDTF">2026-08-25T01:59:08Z</dcterms:created>
  <dcterms:modified xsi:type="dcterms:W3CDTF">2026-08-25T01:59:08Z</dcterms:modified>
</cp:coreProperties>
</file>